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la bienvenida. Presentar marca y duración: 40 min explicación + 20 min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no es terapia ni evaluación de familias.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30–45 s en silencio. No pedir compartir.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Tesis central. Evitar promesas de cambio garantizado.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 observables, no clínicos.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ejemplo de divisiones para autoeficacia.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Autoestima frágil/contingente en una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Patrones repetidos, no una frase aislada.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mano alzada o pensar en silencio.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Edades orientativas.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Conectar → bajar intensidad → orientar.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Diagrama oral si no hay animación.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También etiquetas positivas pueden encerrar.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Elogio de proceso honesto, no vacío.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Andamiaje / zona de desarrollo próximo en lenguaje cotidiano.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preferencia con gesto.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Autodeterminación en versión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Emoción + norma + alternativa.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 propuestas, no frases mágicas.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ridiculizar la importancia del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minimizar daños puntuales graves.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Responsabilidad adulta y sistémica.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el bloque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Demostración rápida 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Semáforo regula; brújula orienta.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Minutos 40–42: consignas y parejas.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Devolución breve de 1–2 ejemplos.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pauta de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Intercambiar papeles. No representar humillaciones.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alguien se abre: agradecer y ofrecer hablar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Compromiso pequeño y viable.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Evaluación final: frase elegida + práctica de la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cálido y breve.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8BC7"/>
                </a:solidFill>
                <a:latin typeface="Manrope"/>
              </a:rPr>
              <a:t>Portada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nrope"/>
              </a:rPr>
              <a:t>¿Quién decide cuánto valgo?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7E8F7"/>
                </a:solidFill>
                <a:latin typeface="Manrope"/>
              </a:rPr>
              <a:t>Autoestima, comparación, presión social y bullying
Familias de niños y niñas de 6 a 11 años
Comprender. Decidir. Avanzar.</a:t>
            </a:r>
          </a:p>
        </p:txBody>
      </p:sp>
      <p:pic>
        <p:nvPicPr>
          <p:cNvPr id="7" name="Picture 6" descr="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863104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0–4 min · Apertura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Cómo vamos a trabajar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Comprender: cómo se construye la autoestima entre 6 y 11 años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Decidir: qué respuesta adulta ayuda ante error, comparación o burlas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Avanzar: dos talleres y una herramienta para casa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881360" cy="29260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Participación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Una pregunta para empezar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92D4A"/>
                </a:solidFill>
                <a:latin typeface="Manrope"/>
              </a:rPr>
              <a:t>Cuando vuestro hijo o hija dice «no valgo» o «soy tonto/a», ¿qué suele salir primero de vuestra boca?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8BC7"/>
                </a:solidFill>
                <a:latin typeface="Manrope"/>
              </a:rPr>
              <a:t>Mensaje conductor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nrope"/>
              </a:rPr>
              <a:t>El valor no es una nota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7E8F7"/>
                </a:solidFill>
                <a:latin typeface="Manrope"/>
              </a:rPr>
              <a:t>La dignidad de un niño no depende de una calificación, un error, una comparación, su aspecto o la aceptación del grupo.
Sí podemos ayudar a que su manera de valorarse crezca con apoyo y vínculos seguros.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Qué os llevaréis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Distinguir autoestima, autoconcepto y autoeficacia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Reformular una etiqueta global en una conducta concreta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Acompañar con emoción + límite + paso posible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Diferenciar crítica, conflicto y sospecha de acoso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4–11 min · Conceptos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Tres ideas que no son lo mismo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Autoestima: cómo me trato y cuánto valor me reconozco cuando algo sale mal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Autoconcepto: cómo me describo en distintas áreas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Autoeficacia: creer que puedo manejar esta tarea concreta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Conceptos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92D4A"/>
                </a:solidFill>
                <a:latin typeface="Manrope"/>
              </a:rPr>
              <a:t>Una autoestima sana…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120640" cy="3840480"/>
          </a:xfrm>
          <a:prstGeom prst="roundRect">
            <a:avLst/>
          </a:prstGeom>
          <a:solidFill>
            <a:srgbClr val="F8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120640" cy="3840480"/>
          </a:xfrm>
          <a:prstGeom prst="round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No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Sentirse superior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No equivocarse nunca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Aprobación constante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Frases mágicas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Sí 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Realista y flexible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Compatible con límites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Capaz de pedir ayuda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Separa persona y conducta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Conceptos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92D4A"/>
                </a:solidFill>
                <a:latin typeface="Manrope"/>
              </a:rPr>
              <a:t>Cuando el valor parece condicionado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120640" cy="3840480"/>
          </a:xfrm>
          <a:prstGeom prst="roundRect">
            <a:avLst/>
          </a:prstGeom>
          <a:solidFill>
            <a:srgbClr val="F8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120640" cy="3840480"/>
          </a:xfrm>
          <a:prstGeom prst="round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Riesgo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«Te quiero… cuando lo haces bien»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Afecto usado como moneda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Protección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«Te quiero. Esta conducta hay que repararla»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Pertenencia estable + responsabilidad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881360" cy="29260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Micro · 45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«No sé hacer divisiones»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92D4A"/>
                </a:solidFill>
                <a:latin typeface="Manrope"/>
              </a:rPr>
              <a:t>¿Es baja autoestima, autoconcepto o autoeficacia?
Suele ser autoeficacia: práctica y pasos, sin convertirla en «no valgo».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11–16 min · 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92D4A"/>
                </a:solidFill>
                <a:latin typeface="Manrope"/>
              </a:rPr>
              <a:t>No es la misma etapa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120640" cy="3840480"/>
          </a:xfrm>
          <a:prstGeom prst="roundRect">
            <a:avLst/>
          </a:prstGeom>
          <a:solidFill>
            <a:srgbClr val="F8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120640" cy="3840480"/>
          </a:xfrm>
          <a:prstGeom prst="round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6–8 años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Frases breves y ejemplos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Más co-regulación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Semáforo y dibujos ayudan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9–11 años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Más peso del grupo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Pueden ocultar malestar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Preguntar qué ayuda necesitan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881360" cy="29260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Desarrollo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Primero calma, después conversación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92D4A"/>
                </a:solidFill>
                <a:latin typeface="Manrope"/>
              </a:rPr>
              <a:t>La regulación empieza muchas veces como co-regulación: prestamos calma, lenguaje y estructura.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16–24 min · Mecanismos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El ciclo que conviene ralentizar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Situación: no me eligen para jugar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Pensamiento: «nadie me quiere»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Emoción: vergüenza, rabia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Acción: aislarse o insultar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Preguntas: ¿qué ocurrió? ¿qué me digo? ¿qué siento? ¿qué paso seguro?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Mecanismos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92D4A"/>
                </a:solidFill>
                <a:latin typeface="Manrope"/>
              </a:rPr>
              <a:t>Las etiquetas convierten conducta en identidad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120640" cy="3840480"/>
          </a:xfrm>
          <a:prstGeom prst="roundRect">
            <a:avLst/>
          </a:prstGeom>
          <a:solidFill>
            <a:srgbClr val="F8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120640" cy="3840480"/>
          </a:xfrm>
          <a:prstGeom prst="round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«Eres vago»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Identidad global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Vergüenza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Menos margen de cambio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«Te cuesta empezar»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Conducta concreta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Sistema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Primer paso posible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Mecanismos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El feedback útil informa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Observa: qué se hizo de forma concreta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Significa: qué efecto tuvo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Abre: cuál puede ser el siguiente paso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Mejor «Has revisado el último paso» que «Eres un genio»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Mecanismos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El error informa si el reto es manejable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Demasiado difícil → indefensión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Todo resuelto por el adulto → poca eficacia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Zona útil: desafío moderado + apoyo temporal + volver a probar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Micro · 60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92D4A"/>
                </a:solidFill>
                <a:latin typeface="Manrope"/>
              </a:rPr>
              <a:t>«He suspendido»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120640" cy="3840480"/>
          </a:xfrm>
          <a:prstGeom prst="roundRect">
            <a:avLst/>
          </a:prstGeom>
          <a:solidFill>
            <a:srgbClr val="F8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120640" cy="3840480"/>
          </a:xfrm>
          <a:prstGeom prst="round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«No pasa nada»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«La nota da información, no mide tu valor. Cuando baje el enfado, miramos qué falta.»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24–29 min · Autonomía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Tres necesidades que orientan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Autonomía: elecciones reales dentro de límites claros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Competencia: sentir que puedo aprender y producir efectos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Vínculo: sentirse cuidado sin condicionarlo al rendimiento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881360" cy="29260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Autonomía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Validar no es ceder el límite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92D4A"/>
                </a:solidFill>
                <a:latin typeface="Manrope"/>
              </a:rPr>
              <a:t>«Tiene sentido que estés enfadado. No voy a dejar que rompas el material. Paramos dos minutos o hacemos juntos el primer paso.»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Autonomía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Frases listas para el momento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«Ahora mismo te estás definiendo por esta tarea.»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«¿Quieres que te escuche, pensemos opciones o intervengamos?»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«No tienes que poder a solas; podemos dividirlo.»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«Esto necesita reparación; sigo contigo.»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29–37 min · Comparación y acoso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«Todos son mejores»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Suele comunicar evaluación, miedo a quedar fuera y deseo de reconocimiento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Preguntar: ¿en qué te comparas? ¿con quién? ¿qué conclusión sacas?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Ampliar criterios: progreso, estrategia, cuidado, cooperación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Comparación y acoso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No todo conflicto es acoso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Crítica útil: dato + impacto + posibilidad de mejora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Conflicto: desacuerdo entre personas con poder similar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Acoso: agresión no deseada, repetición y desequilibrio de poder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Comparación y acoso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Ante sospecha de acoso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Creer el malestar y escuchar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Registrar hechos; conservar pruebas digitales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Proteger: no dejar la solución solo al niño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Coordinar con el protocolo del centro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Micro · 45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92D4A"/>
                </a:solidFill>
                <a:latin typeface="Manrope"/>
              </a:rPr>
              <a:t>«Me llaman tonto todos los recreos»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120640" cy="3840480"/>
          </a:xfrm>
          <a:prstGeom prst="roundRect">
            <a:avLst/>
          </a:prstGeom>
          <a:solidFill>
            <a:srgbClr val="F8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120640" cy="3840480"/>
          </a:xfrm>
          <a:prstGeom prst="round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Evitar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«No les hagas caso»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«Sé más fuerte»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Proteger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«Gracias por contármelo»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Apuntar hechos y pedir ayuda al colegio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37–40 min · Herramientas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La brújula del valor en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Centro: «Mi valor no depende de este momento»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Lo que siento · Lo que pasó · Lo que puedo hacer · A quién pido apoyo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Ejemplo: no me han elegido para jugar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Herramientas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Semáforo de calma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Rojo: parar lo que puede hacer daño y bajar activación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Ámbar: nombrar emoción, hechos e interpretación; elegir ayuda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Verde: acción pequeña, hacerla y revisar el efecto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8BC7"/>
                </a:solidFill>
                <a:latin typeface="Manrope"/>
              </a:rPr>
              <a:t>Taller · 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nrope"/>
              </a:rPr>
              <a:t>Pasamos a practicar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7E8F7"/>
                </a:solidFill>
                <a:latin typeface="Manrope"/>
              </a:rPr>
              <a:t>Trabajamos con casos ficticios.
No se evalúa a ninguna familia.
Se puede pasar o trabajar en solitario.
Taller 1 · Laboratorio de frases
Taller 2 · Ensayo de acompañamiento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Taller 1 · 42–48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Laboratorio de frases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Elegid 2 tarjetas y reescribidlas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Incluir: validación + lo concreto + un paso o apoyo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Tarjetas: No pasa nada / Eres el mejor / Tu hermano sí puede / Si quisieras podrías / No seas tan sensible / No les hagas caso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Ejemplo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92D4A"/>
                </a:solidFill>
                <a:latin typeface="Manrope"/>
              </a:rPr>
              <a:t>De etiqueta a acompañamiento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120640" cy="3840480"/>
          </a:xfrm>
          <a:prstGeom prst="roundRect">
            <a:avLst/>
          </a:prstGeom>
          <a:solidFill>
            <a:srgbClr val="F8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120640" cy="3840480"/>
          </a:xfrm>
          <a:prstGeom prst="round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«No pasa nada»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Minimiza el dolor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Versión útil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«Sí importa y entiendo que duela. Cuéntame qué pasó y vemos un primer paso.»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Taller 2 · 48–55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92D4A"/>
                </a:solidFill>
                <a:latin typeface="Manrope"/>
              </a:rPr>
              <a:t>Ensayo de acompañamiento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120640" cy="3840480"/>
          </a:xfrm>
          <a:prstGeom prst="roundRect">
            <a:avLst/>
          </a:prstGeom>
          <a:solidFill>
            <a:srgbClr val="F8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120640" cy="3840480"/>
          </a:xfrm>
          <a:prstGeom prst="round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Ruta A ·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Pausa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Validar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Explorar después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Primer paso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92D4A"/>
                </a:solidFill>
                <a:latin typeface="Manrope"/>
              </a:rPr>
              <a:t>Ruta B · Burlas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Escuchar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Seguridad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Agradecer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92D4A"/>
                </a:solidFill>
                <a:latin typeface="Manrope"/>
              </a:rPr>
              <a:t>Registrar y pedir ayuda al centro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Casos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Textos para el ensayo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Ruta A: «Hoy he suspendido mates. Soy tonto. No quiero estudiar más.»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Ruta B: «En el recreo me llaman nombres casi todos los días. No quiero ir al cole.»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Nadie cuenta historias personales sensibles en grupo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55–58 ·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Vuestro plan de 7 días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Una situación concreta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Una frase automática a cambiar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Una práctica breve de 5–10 minutos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Una revisión sin puntuar el valor del niño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8BC7"/>
                </a:solidFill>
                <a:latin typeface="Manrope"/>
              </a:rPr>
              <a:t>58–60 ·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nrope"/>
              </a:rPr>
              <a:t>Una voz interior más útil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7E8F7"/>
                </a:solidFill>
                <a:latin typeface="Manrope"/>
              </a:rPr>
              <a:t>No buscamos «soy el mejor».
Buscamos: «esto me afecta, puedo entenderlo, sigo teniendo valor y no tengo que resolverlo a solas».
Cedric Milles · cedricmilles.com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5F8D"/>
                </a:solidFill>
                <a:latin typeface="Manrope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92D4A"/>
                </a:solidFill>
                <a:latin typeface="Manrope"/>
              </a:rPr>
              <a:t>Dos decisiones pequeñas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Si mañana oís «soy tonto/a», ¿cuál será vuestra primera frase?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¿Qué herramienta probaréis: brújula, semáforo o laboratorio de frases?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92D4A"/>
                </a:solidFill>
                <a:latin typeface="Manrope"/>
              </a:rPr>
              <a:t>Gracias por cuidar el valor de vuestros hijos e hijas con precisión y cariño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